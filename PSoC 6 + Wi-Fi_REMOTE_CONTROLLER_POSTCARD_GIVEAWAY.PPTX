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</p:sldIdLst>
  <p:sldSz cx="82296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ERSION 1: REMOTE CONTROLLER - MOUSER" id="{4FBC6DD8-BF15-42E4-9DD5-2C8103852ABA}">
          <p14:sldIdLst>
            <p14:sldId id="256"/>
          </p14:sldIdLst>
        </p14:section>
        <p14:section name="VERSION 2: SYSTEM DIAGRAM - CYPRESS.COM" id="{D00A1EB7-D289-4B81-8180-22A9546CB34C}">
          <p14:sldIdLst>
            <p14:sldId id="25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37" autoAdjust="0"/>
    <p:restoredTop sz="94660"/>
  </p:normalViewPr>
  <p:slideViewPr>
    <p:cSldViewPr snapToGrid="0">
      <p:cViewPr varScale="1">
        <p:scale>
          <a:sx n="56" d="100"/>
          <a:sy n="56" d="100"/>
        </p:scale>
        <p:origin x="2150" y="62"/>
      </p:cViewPr>
      <p:guideLst/>
    </p:cSldViewPr>
  </p:slideViewPr>
  <p:notesTextViewPr>
    <p:cViewPr>
      <p:scale>
        <a:sx n="50" d="100"/>
        <a:sy n="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7220" y="1646133"/>
            <a:ext cx="6995160" cy="3501813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5282989"/>
            <a:ext cx="6172200" cy="2428451"/>
          </a:xfrm>
        </p:spPr>
        <p:txBody>
          <a:bodyPr/>
          <a:lstStyle>
            <a:lvl1pPr marL="0" indent="0" algn="ctr">
              <a:buNone/>
              <a:defRPr sz="2160"/>
            </a:lvl1pPr>
            <a:lvl2pPr marL="411480" indent="0" algn="ctr">
              <a:buNone/>
              <a:defRPr sz="1800"/>
            </a:lvl2pPr>
            <a:lvl3pPr marL="822960" indent="0" algn="ctr">
              <a:buNone/>
              <a:defRPr sz="1620"/>
            </a:lvl3pPr>
            <a:lvl4pPr marL="1234440" indent="0" algn="ctr">
              <a:buNone/>
              <a:defRPr sz="1440"/>
            </a:lvl4pPr>
            <a:lvl5pPr marL="1645920" indent="0" algn="ctr">
              <a:buNone/>
              <a:defRPr sz="1440"/>
            </a:lvl5pPr>
            <a:lvl6pPr marL="2057400" indent="0" algn="ctr">
              <a:buNone/>
              <a:defRPr sz="1440"/>
            </a:lvl6pPr>
            <a:lvl7pPr marL="2468880" indent="0" algn="ctr">
              <a:buNone/>
              <a:defRPr sz="1440"/>
            </a:lvl7pPr>
            <a:lvl8pPr marL="2880360" indent="0" algn="ctr">
              <a:buNone/>
              <a:defRPr sz="1440"/>
            </a:lvl8pPr>
            <a:lvl9pPr marL="3291840" indent="0" algn="ctr">
              <a:buNone/>
              <a:defRPr sz="14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9F971-F48F-4240-941E-3F03C9FE677F}" type="datetimeFigureOut">
              <a:rPr lang="en-US" smtClean="0"/>
              <a:t>10/10/2018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12D61-A4BA-4003-9C7F-A93103BDDA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754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9F971-F48F-4240-941E-3F03C9FE677F}" type="datetimeFigureOut">
              <a:rPr lang="en-US" smtClean="0"/>
              <a:t>10/10/2018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12D61-A4BA-4003-9C7F-A93103BDDA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575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1499" y="2507618"/>
            <a:ext cx="7098030" cy="4184014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1499" y="6731215"/>
            <a:ext cx="7098030" cy="2200274"/>
          </a:xfrm>
        </p:spPr>
        <p:txBody>
          <a:bodyPr/>
          <a:lstStyle>
            <a:lvl1pPr marL="0" indent="0">
              <a:buNone/>
              <a:defRPr sz="2160">
                <a:solidFill>
                  <a:schemeClr val="tx1"/>
                </a:solidFill>
              </a:defRPr>
            </a:lvl1pPr>
            <a:lvl2pPr marL="41148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82296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3pPr>
            <a:lvl4pPr marL="123444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4pPr>
            <a:lvl5pPr marL="164592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5pPr>
            <a:lvl6pPr marL="205740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6pPr>
            <a:lvl7pPr marL="246888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7pPr>
            <a:lvl8pPr marL="288036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8pPr>
            <a:lvl9pPr marL="329184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9F971-F48F-4240-941E-3F03C9FE677F}" type="datetimeFigureOut">
              <a:rPr lang="en-US" smtClean="0"/>
              <a:t>10/10/2018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12D61-A4BA-4003-9C7F-A93103BDDA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273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5785" y="2677584"/>
            <a:ext cx="3497580" cy="63819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66235" y="2677584"/>
            <a:ext cx="3497580" cy="63819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9F971-F48F-4240-941E-3F03C9FE677F}" type="datetimeFigureOut">
              <a:rPr lang="en-US" smtClean="0"/>
              <a:t>10/10/2018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12D61-A4BA-4003-9C7F-A93103BDDA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850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857" y="535519"/>
            <a:ext cx="7098030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6858" y="2465706"/>
            <a:ext cx="3481506" cy="1208404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6858" y="3674110"/>
            <a:ext cx="3481506" cy="54040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166235" y="2465706"/>
            <a:ext cx="3498652" cy="1208404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66235" y="3674110"/>
            <a:ext cx="3498652" cy="54040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9F971-F48F-4240-941E-3F03C9FE677F}" type="datetimeFigureOut">
              <a:rPr lang="en-US" smtClean="0"/>
              <a:t>10/10/2018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12D61-A4BA-4003-9C7F-A93103BDDA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31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9F971-F48F-4240-941E-3F03C9FE677F}" type="datetimeFigureOut">
              <a:rPr lang="en-US" smtClean="0"/>
              <a:t>10/10/2018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12D61-A4BA-4003-9C7F-A93103BDDA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215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9F971-F48F-4240-941E-3F03C9FE677F}" type="datetimeFigureOut">
              <a:rPr lang="en-US" smtClean="0"/>
              <a:t>10/10/2018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12D61-A4BA-4003-9C7F-A93103BDDA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599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857" y="670560"/>
            <a:ext cx="2654260" cy="234696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8652" y="1448226"/>
            <a:ext cx="4166235" cy="7147983"/>
          </a:xfr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6857" y="3017520"/>
            <a:ext cx="2654260" cy="5590329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9F971-F48F-4240-941E-3F03C9FE677F}" type="datetimeFigureOut">
              <a:rPr lang="en-US" smtClean="0"/>
              <a:t>10/10/2018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12D61-A4BA-4003-9C7F-A93103BDDA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788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857" y="670560"/>
            <a:ext cx="2654260" cy="234696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498652" y="1448226"/>
            <a:ext cx="4166235" cy="7147983"/>
          </a:xfrm>
        </p:spPr>
        <p:txBody>
          <a:bodyPr anchor="t"/>
          <a:lstStyle>
            <a:lvl1pPr marL="0" indent="0">
              <a:buNone/>
              <a:defRPr sz="2880"/>
            </a:lvl1pPr>
            <a:lvl2pPr marL="411480" indent="0">
              <a:buNone/>
              <a:defRPr sz="2520"/>
            </a:lvl2pPr>
            <a:lvl3pPr marL="822960" indent="0">
              <a:buNone/>
              <a:defRPr sz="2160"/>
            </a:lvl3pPr>
            <a:lvl4pPr marL="1234440" indent="0">
              <a:buNone/>
              <a:defRPr sz="1800"/>
            </a:lvl4pPr>
            <a:lvl5pPr marL="1645920" indent="0">
              <a:buNone/>
              <a:defRPr sz="1800"/>
            </a:lvl5pPr>
            <a:lvl6pPr marL="2057400" indent="0">
              <a:buNone/>
              <a:defRPr sz="1800"/>
            </a:lvl6pPr>
            <a:lvl7pPr marL="2468880" indent="0">
              <a:buNone/>
              <a:defRPr sz="1800"/>
            </a:lvl7pPr>
            <a:lvl8pPr marL="2880360" indent="0">
              <a:buNone/>
              <a:defRPr sz="1800"/>
            </a:lvl8pPr>
            <a:lvl9pPr marL="3291840" indent="0">
              <a:buNone/>
              <a:defRPr sz="1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6857" y="3017520"/>
            <a:ext cx="2654260" cy="5590329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9F971-F48F-4240-941E-3F03C9FE677F}" type="datetimeFigureOut">
              <a:rPr lang="en-US" smtClean="0"/>
              <a:t>10/10/2018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12D61-A4BA-4003-9C7F-A93103BDDA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517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9F971-F48F-4240-941E-3F03C9FE677F}" type="datetimeFigureOut">
              <a:rPr lang="en-US" smtClean="0"/>
              <a:t>10/10/2018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12D61-A4BA-4003-9C7F-A93103BDDA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564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889308" y="535517"/>
            <a:ext cx="1774508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5785" y="535517"/>
            <a:ext cx="5220653" cy="852402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9F971-F48F-4240-941E-3F03C9FE677F}" type="datetimeFigureOut">
              <a:rPr lang="en-US" smtClean="0"/>
              <a:t>10/10/2018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12D61-A4BA-4003-9C7F-A93103BDDA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241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5785" y="535519"/>
            <a:ext cx="7098030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5785" y="2677584"/>
            <a:ext cx="7098030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5785" y="9322649"/>
            <a:ext cx="185166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E9F971-F48F-4240-941E-3F03C9FE677F}" type="datetimeFigureOut">
              <a:rPr lang="en-US" smtClean="0"/>
              <a:t>10/10/2018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26055" y="9322649"/>
            <a:ext cx="27774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812155" y="9322649"/>
            <a:ext cx="185166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C12D61-A4BA-4003-9C7F-A93103BDDA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763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822960" rtl="0" eaLnBrk="1" latinLnBrk="0" hangingPunct="1">
        <a:lnSpc>
          <a:spcPct val="90000"/>
        </a:lnSpc>
        <a:spcBef>
          <a:spcPct val="0"/>
        </a:spcBef>
        <a:buNone/>
        <a:defRPr sz="39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5740" indent="-205740" algn="l" defTabSz="82296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1722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85166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26314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67462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308610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49758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8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9CC7D5B-D902-431A-85D1-BCB914DD3D30}"/>
              </a:ext>
            </a:extLst>
          </p:cNvPr>
          <p:cNvSpPr txBox="1"/>
          <p:nvPr/>
        </p:nvSpPr>
        <p:spPr>
          <a:xfrm>
            <a:off x="244554" y="2846718"/>
            <a:ext cx="77897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Powering the Electronica Cypress Video Game Demo with the latest IoT technology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20E785-9A1D-4BED-975A-59006D05E54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534" b="5668"/>
          <a:stretch/>
        </p:blipFill>
        <p:spPr>
          <a:xfrm>
            <a:off x="361187" y="870945"/>
            <a:ext cx="2105357" cy="18707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3F0617-E673-493B-855C-0885A6EF2EA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682" r="4367"/>
          <a:stretch/>
        </p:blipFill>
        <p:spPr>
          <a:xfrm>
            <a:off x="2901695" y="870945"/>
            <a:ext cx="2548129" cy="18707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929BD07-17AB-472A-B493-23148EB9F1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9275" y="870946"/>
            <a:ext cx="2375367" cy="1870710"/>
          </a:xfrm>
          <a:prstGeom prst="rect">
            <a:avLst/>
          </a:prstGeom>
        </p:spPr>
      </p:pic>
      <p:pic>
        <p:nvPicPr>
          <p:cNvPr id="10" name="Picture 9" descr="A close up of a sign&#10;&#10;Description generated with very high confidence">
            <a:extLst>
              <a:ext uri="{FF2B5EF4-FFF2-40B4-BE49-F238E27FC236}">
                <a16:creationId xmlns:a16="http://schemas.microsoft.com/office/drawing/2014/main" id="{2FEAF409-9E26-4D31-BC24-16B97E2FB22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9414" y="92152"/>
            <a:ext cx="1833975" cy="56894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75C2894-9DD1-49C3-9E44-9502BD92DBD8}"/>
              </a:ext>
            </a:extLst>
          </p:cNvPr>
          <p:cNvSpPr txBox="1"/>
          <p:nvPr/>
        </p:nvSpPr>
        <p:spPr>
          <a:xfrm>
            <a:off x="163361" y="3835365"/>
            <a:ext cx="806623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The Electronica Cypress Video Game Demo showcases two of Cypress’ industry-leading IoT technologies: The ultra-low-power, dual-core PSoC 6 Microcontroller and one of Cypress’ 802.11b/g/n Wi-Fi + Bluetooth 4.1 BR/EDR/BLE combo chipset radios. </a:t>
            </a:r>
          </a:p>
          <a:p>
            <a:endParaRPr lang="en-US" sz="1400" dirty="0"/>
          </a:p>
          <a:p>
            <a:r>
              <a:rPr lang="en-US" sz="1400" dirty="0"/>
              <a:t>The game consists of participants racing to fill two water tanks. Gamers will send messages from the </a:t>
            </a:r>
            <a:r>
              <a:rPr lang="en-US" sz="1400" b="1" dirty="0">
                <a:solidFill>
                  <a:srgbClr val="005696"/>
                </a:solidFill>
              </a:rPr>
              <a:t>Mouser</a:t>
            </a:r>
            <a:r>
              <a:rPr lang="en-US" sz="1400" dirty="0">
                <a:solidFill>
                  <a:srgbClr val="0070C0"/>
                </a:solidFill>
              </a:rPr>
              <a:t> </a:t>
            </a:r>
            <a:r>
              <a:rPr lang="en-US" sz="1400" dirty="0"/>
              <a:t>sponsored remote controller to the main controller via cloud connectivity or BLE – both enabled by the on-board Cypress radio. </a:t>
            </a:r>
          </a:p>
        </p:txBody>
      </p:sp>
      <p:pic>
        <p:nvPicPr>
          <p:cNvPr id="15" name="Picture 14" descr="A sign on the screen&#10;&#10;Description generated with high confidence">
            <a:extLst>
              <a:ext uri="{FF2B5EF4-FFF2-40B4-BE49-F238E27FC236}">
                <a16:creationId xmlns:a16="http://schemas.microsoft.com/office/drawing/2014/main" id="{619F1E03-40AA-4BC5-8ED4-0D31135E9EA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9" r="2864" b="1957"/>
          <a:stretch/>
        </p:blipFill>
        <p:spPr>
          <a:xfrm>
            <a:off x="214881" y="5963412"/>
            <a:ext cx="1595631" cy="3962400"/>
          </a:xfrm>
          <a:prstGeom prst="rect">
            <a:avLst/>
          </a:prstGeom>
        </p:spPr>
      </p:pic>
      <p:pic>
        <p:nvPicPr>
          <p:cNvPr id="17" name="Picture 16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D9F5688A-40A7-40CF-9242-6633E9BBCB1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620" y="5999408"/>
            <a:ext cx="5444522" cy="313604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CEE6BB8-234D-49FF-975C-57C8E0265818}"/>
              </a:ext>
            </a:extLst>
          </p:cNvPr>
          <p:cNvSpPr txBox="1"/>
          <p:nvPr/>
        </p:nvSpPr>
        <p:spPr>
          <a:xfrm>
            <a:off x="2162518" y="9226737"/>
            <a:ext cx="4817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Learn more about how to build our own remote controller as well as the rest of the demo here: </a:t>
            </a:r>
          </a:p>
        </p:txBody>
      </p:sp>
      <p:pic>
        <p:nvPicPr>
          <p:cNvPr id="1026" name="Picture 2" descr="Image result for QR code">
            <a:extLst>
              <a:ext uri="{FF2B5EF4-FFF2-40B4-BE49-F238E27FC236}">
                <a16:creationId xmlns:a16="http://schemas.microsoft.com/office/drawing/2014/main" id="{2C70D108-3090-47D8-95C1-23ADC1634A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16" t="6761" r="4940" b="6954"/>
          <a:stretch/>
        </p:blipFill>
        <p:spPr bwMode="auto">
          <a:xfrm>
            <a:off x="7021862" y="9223046"/>
            <a:ext cx="716280" cy="702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5534DB8-8616-46B5-84BB-0FBF6EE793A7}"/>
              </a:ext>
            </a:extLst>
          </p:cNvPr>
          <p:cNvSpPr txBox="1"/>
          <p:nvPr/>
        </p:nvSpPr>
        <p:spPr>
          <a:xfrm>
            <a:off x="54606" y="5591540"/>
            <a:ext cx="82423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Remote Controller featuring Cypress PSoC 6 MCU, Wi-Fi/Bluetooth, PSoC 5LP, and industry’s best </a:t>
            </a:r>
            <a:r>
              <a:rPr lang="en-US" sz="1400" b="1" dirty="0" err="1"/>
              <a:t>CapSense</a:t>
            </a:r>
            <a:r>
              <a:rPr lang="en-US" sz="1400" b="1" dirty="0"/>
              <a:t>® 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241AA53-BF4F-41A7-83B7-871998E5AD1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1699" y="92152"/>
            <a:ext cx="1509803" cy="588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983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9CC7D5B-D902-431A-85D1-BCB914DD3D30}"/>
              </a:ext>
            </a:extLst>
          </p:cNvPr>
          <p:cNvSpPr txBox="1"/>
          <p:nvPr/>
        </p:nvSpPr>
        <p:spPr>
          <a:xfrm>
            <a:off x="244554" y="2701938"/>
            <a:ext cx="77897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Powering the Electronica Cypress Video Game Demo with the latest IoT technology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20E785-9A1D-4BED-975A-59006D05E54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534" b="5668"/>
          <a:stretch/>
        </p:blipFill>
        <p:spPr>
          <a:xfrm>
            <a:off x="361187" y="816353"/>
            <a:ext cx="2105357" cy="18707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3F0617-E673-493B-855C-0885A6EF2EA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682" r="4367"/>
          <a:stretch/>
        </p:blipFill>
        <p:spPr>
          <a:xfrm>
            <a:off x="2901695" y="816353"/>
            <a:ext cx="2548129" cy="18707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929BD07-17AB-472A-B493-23148EB9F1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9275" y="816354"/>
            <a:ext cx="2375367" cy="1870710"/>
          </a:xfrm>
          <a:prstGeom prst="rect">
            <a:avLst/>
          </a:prstGeom>
        </p:spPr>
      </p:pic>
      <p:pic>
        <p:nvPicPr>
          <p:cNvPr id="10" name="Picture 9" descr="A close up of a sign&#10;&#10;Description generated with very high confidence">
            <a:extLst>
              <a:ext uri="{FF2B5EF4-FFF2-40B4-BE49-F238E27FC236}">
                <a16:creationId xmlns:a16="http://schemas.microsoft.com/office/drawing/2014/main" id="{2FEAF409-9E26-4D31-BC24-16B97E2FB22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0667" y="114170"/>
            <a:ext cx="1833975" cy="56894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CEE6BB8-234D-49FF-975C-57C8E0265818}"/>
              </a:ext>
            </a:extLst>
          </p:cNvPr>
          <p:cNvSpPr txBox="1"/>
          <p:nvPr/>
        </p:nvSpPr>
        <p:spPr>
          <a:xfrm>
            <a:off x="6236313" y="6959544"/>
            <a:ext cx="19108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Learn more about the whole system and how to build your own, here: </a:t>
            </a:r>
          </a:p>
        </p:txBody>
      </p:sp>
      <p:pic>
        <p:nvPicPr>
          <p:cNvPr id="1026" name="Picture 2" descr="Image result for QR code">
            <a:extLst>
              <a:ext uri="{FF2B5EF4-FFF2-40B4-BE49-F238E27FC236}">
                <a16:creationId xmlns:a16="http://schemas.microsoft.com/office/drawing/2014/main" id="{2C70D108-3090-47D8-95C1-23ADC1634A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16" t="6761" r="4940" b="6954"/>
          <a:stretch/>
        </p:blipFill>
        <p:spPr bwMode="auto">
          <a:xfrm>
            <a:off x="6534747" y="8407400"/>
            <a:ext cx="1314027" cy="1289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close up of text on a white background&#10;&#10;Description generated with high confidence">
            <a:extLst>
              <a:ext uri="{FF2B5EF4-FFF2-40B4-BE49-F238E27FC236}">
                <a16:creationId xmlns:a16="http://schemas.microsoft.com/office/drawing/2014/main" id="{DFC772E9-742F-4153-8A6E-836A2FAEAF2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2349" y="4913724"/>
            <a:ext cx="4034170" cy="509112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38FDD61-4298-402E-B981-1F9C2B35C5B8}"/>
              </a:ext>
            </a:extLst>
          </p:cNvPr>
          <p:cNvSpPr txBox="1"/>
          <p:nvPr/>
        </p:nvSpPr>
        <p:spPr>
          <a:xfrm>
            <a:off x="163361" y="3637245"/>
            <a:ext cx="806623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The Electronica Cypress Video Game Demo showcases two of Cypress’ industry-leading IoT technologies: The ultra-low-power, dual-core PSoC 6 Microcontroller and one of Cypress’ 802.11b/g/n Wi-Fi + Bluetooth 4.1 BR/EDR/BLE combo chipset radios. </a:t>
            </a:r>
          </a:p>
          <a:p>
            <a:endParaRPr lang="en-US" sz="600" dirty="0"/>
          </a:p>
          <a:p>
            <a:r>
              <a:rPr lang="en-US" sz="1400" dirty="0"/>
              <a:t>The game consists of participants racing to fill two water tanks. Gamers will send messages from the </a:t>
            </a:r>
            <a:r>
              <a:rPr lang="en-US" sz="1400" b="1" dirty="0">
                <a:solidFill>
                  <a:srgbClr val="005696"/>
                </a:solidFill>
              </a:rPr>
              <a:t>Mouser</a:t>
            </a:r>
            <a:r>
              <a:rPr lang="en-US" sz="1400" dirty="0">
                <a:solidFill>
                  <a:srgbClr val="0070C0"/>
                </a:solidFill>
              </a:rPr>
              <a:t> </a:t>
            </a:r>
            <a:r>
              <a:rPr lang="en-US" sz="1400" dirty="0"/>
              <a:t>sponsored remote controller to the main controller via cloud connectivity or BLE – both enabled by the on-board Cypress radio. </a:t>
            </a:r>
          </a:p>
        </p:txBody>
      </p:sp>
      <p:pic>
        <p:nvPicPr>
          <p:cNvPr id="19" name="Picture 18" descr="A sign on the screen&#10;&#10;Description generated with high confidence">
            <a:extLst>
              <a:ext uri="{FF2B5EF4-FFF2-40B4-BE49-F238E27FC236}">
                <a16:creationId xmlns:a16="http://schemas.microsoft.com/office/drawing/2014/main" id="{A7C344E5-F12B-4EC4-9F20-B23BFF99DA9C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9" r="2864" b="1957"/>
          <a:stretch/>
        </p:blipFill>
        <p:spPr>
          <a:xfrm>
            <a:off x="530338" y="6010162"/>
            <a:ext cx="1072848" cy="26641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FB5ADB7-1B4D-4327-9936-62BE2A6B937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57" y="8411177"/>
            <a:ext cx="513885" cy="193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9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109</TotalTime>
  <Words>249</Words>
  <Application>Microsoft Office PowerPoint</Application>
  <PresentationFormat>Custom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Matthew Salmanpour</dc:creator>
  <cp:lastModifiedBy>Matthew Salmanpour</cp:lastModifiedBy>
  <cp:revision>8</cp:revision>
  <dcterms:created xsi:type="dcterms:W3CDTF">2018-10-11T04:35:25Z</dcterms:created>
  <dcterms:modified xsi:type="dcterms:W3CDTF">2018-10-11T06:24:35Z</dcterms:modified>
</cp:coreProperties>
</file>